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2240"/>
          </a:solidFill>
          <a:ln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Arial"/>
              </a:defRPr>
            </a:pPr>
            <a:r>
              <a:t>ScholarAgent Ultimate</a:t>
            </a:r>
          </a:p>
          <a:p>
            <a:pPr algn="l">
              <a:defRPr sz="1600">
                <a:solidFill>
                  <a:srgbClr val="C8D2E6"/>
                </a:solidFill>
                <a:latin typeface="Arial"/>
              </a:defRPr>
            </a:pPr>
            <a:r>
              <a:t>An Explainable Multi-Agent College &amp; Scholarship Concierge Mapping Fully-Funded Global 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366F1"/>
                </a:solidFill>
                <a:latin typeface="Arial"/>
              </a:defRPr>
            </a:pPr>
            <a:r>
              <a:t>Track: Agents for Good</a:t>
            </a:r>
          </a:p>
          <a:p>
            <a:pPr>
              <a:defRPr sz="1200">
                <a:solidFill>
                  <a:srgbClr val="AAB9C8"/>
                </a:solidFill>
                <a:latin typeface="Arial"/>
              </a:defRPr>
            </a:pPr>
            <a:r>
              <a:t>Presenter: Rakshaya (Kaggle: rakshaya2025)</a:t>
            </a:r>
            <a:br/>
            <a:r>
              <a:t>GitHub Codebase: github.com/Rak18936/global-scholar-agent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240"/>
          </a:solidFill>
          <a:ln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The Problem: Barriers to Global Mobility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F2240"/>
                </a:solidFill>
                <a:latin typeface="Arial"/>
              </a:defRPr>
            </a:pPr>
            <a:r>
              <a:t>Accessing global fully-funded programs involves major pain points:</a:t>
            </a:r>
          </a:p>
          <a:p>
            <a:pPr>
              <a:spcBef>
                <a:spcPts val="800"/>
              </a:spcBef>
              <a:defRPr sz="1400" b="1">
                <a:solidFill>
                  <a:srgbClr val="0F2240"/>
                </a:solidFill>
                <a:latin typeface="Arial"/>
              </a:defRPr>
            </a:pPr>
            <a:r>
              <a:t>• Complex Eligibility Opacity: </a:t>
            </a:r>
            <a:r>
              <a:rPr b="0">
                <a:solidFill>
                  <a:srgbClr val="3C3C3C"/>
                </a:solidFill>
              </a:rPr>
              <a:t>Important criteria (GPA baselines, language test minimums, course fields) are scattered across fragmented official websites and PDFs.</a:t>
            </a:r>
          </a:p>
          <a:p>
            <a:pPr>
              <a:spcBef>
                <a:spcPts val="800"/>
              </a:spcBef>
              <a:defRPr sz="1400" b="1">
                <a:solidFill>
                  <a:srgbClr val="0F2240"/>
                </a:solidFill>
                <a:latin typeface="Arial"/>
              </a:defRPr>
            </a:pPr>
            <a:r>
              <a:t>• GPA Scale Conversions: </a:t>
            </a:r>
            <a:r>
              <a:rPr b="0">
                <a:solidFill>
                  <a:srgbClr val="3C3C3C"/>
                </a:solidFill>
              </a:rPr>
              <a:t>Different universities use different grading systems (e.g. 10.0 scale, percentages, or 4.0 standard scale). Conversion errors cause students to mistakenly skip eligible applications.</a:t>
            </a:r>
          </a:p>
          <a:p>
            <a:pPr>
              <a:spcBef>
                <a:spcPts val="800"/>
              </a:spcBef>
              <a:defRPr sz="1400" b="1">
                <a:solidFill>
                  <a:srgbClr val="0F2240"/>
                </a:solidFill>
                <a:latin typeface="Arial"/>
              </a:defRPr>
            </a:pPr>
            <a:r>
              <a:t>• Resume and SOP Misalignment: </a:t>
            </a:r>
            <a:r>
              <a:rPr b="0">
                <a:solidFill>
                  <a:srgbClr val="3C3C3C"/>
                </a:solidFill>
              </a:rPr>
              <a:t>Applicants lack personalized mentorship to highlight relevant achievements or format structured Statement of Purpose (SOP) letters matching target guidelines.</a:t>
            </a:r>
          </a:p>
          <a:p>
            <a:pPr>
              <a:spcBef>
                <a:spcPts val="800"/>
              </a:spcBef>
              <a:defRPr sz="1400" b="1">
                <a:solidFill>
                  <a:srgbClr val="0F2240"/>
                </a:solidFill>
                <a:latin typeface="Arial"/>
              </a:defRPr>
            </a:pPr>
            <a:r>
              <a:t>• Student Privacy Risks: </a:t>
            </a:r>
            <a:r>
              <a:rPr b="0">
                <a:solidFill>
                  <a:srgbClr val="3C3C3C"/>
                </a:solidFill>
              </a:rPr>
              <a:t>Uploading transcript documents and resumes to third-party databases exposes private personal records.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240"/>
          </a:solidFill>
          <a:ln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The Solution: Academic Agentic Concierge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F2240"/>
                </a:solidFill>
                <a:latin typeface="Arial"/>
              </a:defRPr>
            </a:pPr>
            <a:r>
              <a:t>ScholarAgent Ultimate: A Multi-Agent Educational Portal</a:t>
            </a:r>
          </a:p>
          <a:p>
            <a:pPr>
              <a:spcBef>
                <a:spcPts val="800"/>
              </a:spcBef>
              <a:defRPr sz="1400" b="1">
                <a:solidFill>
                  <a:srgbClr val="6366F1"/>
                </a:solidFill>
                <a:latin typeface="Arial"/>
              </a:defRPr>
            </a:pPr>
            <a:r>
              <a:t>✓ Multi-Agent Coordination: </a:t>
            </a:r>
            <a:r>
              <a:rPr b="0">
                <a:solidFill>
                  <a:srgbClr val="3C3C3C"/>
                </a:solidFill>
              </a:rPr>
              <a:t>Leverages three specialized agents collaborating to plan, fetch databases, and evaluate academic transcripts securely.</a:t>
            </a:r>
          </a:p>
          <a:p>
            <a:pPr>
              <a:spcBef>
                <a:spcPts val="800"/>
              </a:spcBef>
              <a:defRPr sz="1400" b="1">
                <a:solidFill>
                  <a:srgbClr val="6366F1"/>
                </a:solidFill>
                <a:latin typeface="Arial"/>
              </a:defRPr>
            </a:pPr>
            <a:r>
              <a:t>✓ Resume Parsing &amp; Assessment: </a:t>
            </a:r>
            <a:r>
              <a:rPr b="0">
                <a:solidFill>
                  <a:srgbClr val="3C3C3C"/>
                </a:solidFill>
              </a:rPr>
              <a:t>Understands work, academic, and publication details. Extracts and normalizes GPAs and original scale scores cleanly.</a:t>
            </a:r>
          </a:p>
          <a:p>
            <a:pPr>
              <a:spcBef>
                <a:spcPts val="800"/>
              </a:spcBef>
              <a:defRPr sz="1400" b="1">
                <a:solidFill>
                  <a:srgbClr val="6366F1"/>
                </a:solidFill>
                <a:latin typeface="Arial"/>
              </a:defRPr>
            </a:pPr>
            <a:r>
              <a:t>✓ Tailored SOP Outlines: </a:t>
            </a:r>
            <a:r>
              <a:rPr b="0">
                <a:solidFill>
                  <a:srgbClr val="3C3C3C"/>
                </a:solidFill>
              </a:rPr>
              <a:t>Directly outputs detailed Statement of Purpose outlines customized to the student's background and target program rules.</a:t>
            </a:r>
          </a:p>
          <a:p>
            <a:pPr>
              <a:spcBef>
                <a:spcPts val="800"/>
              </a:spcBef>
              <a:defRPr sz="1400" b="1">
                <a:solidFill>
                  <a:srgbClr val="6366F1"/>
                </a:solidFill>
                <a:latin typeface="Arial"/>
              </a:defRPr>
            </a:pPr>
            <a:r>
              <a:t>✓ Local Privacy &amp; Security: </a:t>
            </a:r>
            <a:r>
              <a:rPr b="0">
                <a:solidFill>
                  <a:srgbClr val="3C3C3C"/>
                </a:solidFill>
              </a:rPr>
              <a:t>Exposes local JSON-RPC databases through a custom Model Context Protocol (MCP) server, keeping sensitive student documents offline.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240"/>
          </a:solidFill>
          <a:ln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Technical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F2240"/>
                </a:solidFill>
                <a:latin typeface="Arial"/>
              </a:defRPr>
            </a:pPr>
            <a:r>
              <a:t>Modular Component Flow:</a:t>
            </a:r>
          </a:p>
          <a:p>
            <a:pPr>
              <a:spcBef>
                <a:spcPts val="600"/>
              </a:spcBef>
              <a:defRPr sz="1300" b="1">
                <a:solidFill>
                  <a:srgbClr val="0F2240"/>
                </a:solidFill>
                <a:latin typeface="Arial"/>
              </a:defRPr>
            </a:pPr>
            <a:r>
              <a:t>1. Frontend Dashboard (HTML/CSS/JS)</a:t>
            </a:r>
            <a:br/>
            <a:r>
              <a:rPr sz="1100" b="0">
                <a:solidFill>
                  <a:srgbClr val="3C3C3C"/>
                </a:solidFill>
              </a:rPr>
              <a:t>Modern glassmorphic user interface showing live execution logs from the Agent Terminal.</a:t>
            </a:r>
          </a:p>
          <a:p>
            <a:pPr>
              <a:spcBef>
                <a:spcPts val="600"/>
              </a:spcBef>
              <a:defRPr sz="1300" b="1">
                <a:solidFill>
                  <a:srgbClr val="0F2240"/>
                </a:solidFill>
                <a:latin typeface="Arial"/>
              </a:defRPr>
            </a:pPr>
            <a:r>
              <a:t>2. Backend API (Flask Server)</a:t>
            </a:r>
            <a:br/>
            <a:r>
              <a:rPr sz="1100" b="0">
                <a:solidFill>
                  <a:srgbClr val="3C3C3C"/>
                </a:solidFill>
              </a:rPr>
              <a:t>Acts as the server hosting files and initiating the orchestrator loop.</a:t>
            </a:r>
          </a:p>
          <a:p>
            <a:pPr>
              <a:spcBef>
                <a:spcPts val="600"/>
              </a:spcBef>
              <a:defRPr sz="1300" b="1">
                <a:solidFill>
                  <a:srgbClr val="0F2240"/>
                </a:solidFill>
                <a:latin typeface="Arial"/>
              </a:defRPr>
            </a:pPr>
            <a:r>
              <a:t>3. Agent Orchestrator (Google Antigravity SDK)</a:t>
            </a:r>
            <a:br/>
            <a:r>
              <a:rPr sz="1100" b="0">
                <a:solidFill>
                  <a:srgbClr val="3C3C3C"/>
                </a:solidFill>
              </a:rPr>
              <a:t>Runs the collaborative team: Coordinator Agent, Scholar Researcher Agent, and Resume Evaluator Agent.</a:t>
            </a:r>
          </a:p>
          <a:p>
            <a:pPr>
              <a:spcBef>
                <a:spcPts val="600"/>
              </a:spcBef>
              <a:defRPr sz="1300" b="1">
                <a:solidFill>
                  <a:srgbClr val="0F2240"/>
                </a:solidFill>
                <a:latin typeface="Arial"/>
              </a:defRPr>
            </a:pPr>
            <a:r>
              <a:t>4. Custom JSON-RPC 2.0 MCP Server</a:t>
            </a:r>
            <a:br/>
            <a:r>
              <a:rPr sz="1100" b="0">
                <a:solidFill>
                  <a:srgbClr val="3C3C3C"/>
                </a:solidFill>
              </a:rPr>
              <a:t>Acts as the secure interface between the Researcher Agent and the local database storage.</a:t>
            </a:r>
          </a:p>
          <a:p>
            <a:pPr>
              <a:spcBef>
                <a:spcPts val="600"/>
              </a:spcBef>
              <a:defRPr sz="1300" b="1">
                <a:solidFill>
                  <a:srgbClr val="0F2240"/>
                </a:solidFill>
                <a:latin typeface="Arial"/>
              </a:defRPr>
            </a:pPr>
            <a:r>
              <a:t>5. Curated Local Databases</a:t>
            </a:r>
            <a:br/>
            <a:r>
              <a:rPr sz="1100" b="0">
                <a:solidFill>
                  <a:srgbClr val="3C3C3C"/>
                </a:solidFill>
              </a:rPr>
              <a:t>High-fidelity database files tracking 46 universities and 13 scholarships.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2240"/>
          </a:solidFill>
          <a:ln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Course Concept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F2240"/>
                </a:solidFill>
                <a:latin typeface="Arial"/>
              </a:defRPr>
            </a:pPr>
            <a:r>
              <a:t>Meeting all 6 Key Concepts from the Vibe Coding Course:</a:t>
            </a:r>
          </a:p>
          <a:p>
            <a:pPr>
              <a:spcBef>
                <a:spcPts val="600"/>
              </a:spcBef>
              <a:defRPr sz="1300" b="1">
                <a:solidFill>
                  <a:srgbClr val="0F2240"/>
                </a:solidFill>
                <a:latin typeface="Arial"/>
              </a:defRPr>
            </a:pPr>
            <a:r>
              <a:t>[✓] Multi-Agent System (ADK): </a:t>
            </a:r>
            <a:r>
              <a:rPr b="0">
                <a:solidFill>
                  <a:srgbClr val="3C3C3C"/>
                </a:solidFill>
              </a:rPr>
              <a:t>Uses google-antigravity SDK to manage Coordinator, Researcher, and Evaluator sessions.</a:t>
            </a:r>
          </a:p>
          <a:p>
            <a:pPr>
              <a:spcBef>
                <a:spcPts val="600"/>
              </a:spcBef>
              <a:defRPr sz="1300" b="1">
                <a:solidFill>
                  <a:srgbClr val="0F2240"/>
                </a:solidFill>
                <a:latin typeface="Arial"/>
              </a:defRPr>
            </a:pPr>
            <a:r>
              <a:t>[✓] Model Context Protocol (MCP): </a:t>
            </a:r>
            <a:r>
              <a:rPr b="0">
                <a:solidFill>
                  <a:srgbClr val="3C3C3C"/>
                </a:solidFill>
              </a:rPr>
              <a:t>Exposes local file databases to agents via a custom JSON-RPC 2.0 interface.</a:t>
            </a:r>
          </a:p>
          <a:p>
            <a:pPr>
              <a:spcBef>
                <a:spcPts val="600"/>
              </a:spcBef>
              <a:defRPr sz="1300" b="1">
                <a:solidFill>
                  <a:srgbClr val="0F2240"/>
                </a:solidFill>
                <a:latin typeface="Arial"/>
              </a:defRPr>
            </a:pPr>
            <a:r>
              <a:t>[✓] Antigravity Observability: </a:t>
            </a:r>
            <a:r>
              <a:rPr b="0">
                <a:solidFill>
                  <a:srgbClr val="3C3C3C"/>
                </a:solidFill>
              </a:rPr>
              <a:t>Displays live token execution and trace logs on the frontend console.</a:t>
            </a:r>
          </a:p>
          <a:p>
            <a:pPr>
              <a:spcBef>
                <a:spcPts val="600"/>
              </a:spcBef>
              <a:defRPr sz="1300" b="1">
                <a:solidFill>
                  <a:srgbClr val="0F2240"/>
                </a:solidFill>
                <a:latin typeface="Arial"/>
              </a:defRPr>
            </a:pPr>
            <a:r>
              <a:t>[✓] Security Safety Features: </a:t>
            </a:r>
            <a:r>
              <a:rPr b="0">
                <a:solidFill>
                  <a:srgbClr val="3C3C3C"/>
                </a:solidFill>
              </a:rPr>
              <a:t>Binds GPA &amp; IELTS parameters mathematically, blocking SQL/prompt injections.</a:t>
            </a:r>
          </a:p>
          <a:p>
            <a:pPr>
              <a:spcBef>
                <a:spcPts val="600"/>
              </a:spcBef>
              <a:defRPr sz="1300" b="1">
                <a:solidFill>
                  <a:srgbClr val="0F2240"/>
                </a:solidFill>
                <a:latin typeface="Arial"/>
              </a:defRPr>
            </a:pPr>
            <a:r>
              <a:t>[✓] Deployability &amp; GUI: </a:t>
            </a:r>
            <a:r>
              <a:rPr b="0">
                <a:solidFill>
                  <a:srgbClr val="3C3C3C"/>
                </a:solidFill>
              </a:rPr>
              <a:t>Translucent glassmorphic dashboard served over a lightweight local Flask server.</a:t>
            </a:r>
          </a:p>
          <a:p>
            <a:pPr>
              <a:spcBef>
                <a:spcPts val="600"/>
              </a:spcBef>
              <a:defRPr sz="1300" b="1">
                <a:solidFill>
                  <a:srgbClr val="0F2240"/>
                </a:solidFill>
                <a:latin typeface="Arial"/>
              </a:defRPr>
            </a:pPr>
            <a:r>
              <a:t>[✓] Custom Agent Skills: </a:t>
            </a:r>
            <a:r>
              <a:rPr b="0">
                <a:solidFill>
                  <a:srgbClr val="3C3C3C"/>
                </a:solidFill>
              </a:rPr>
              <a:t>Modularized project rules and definitions stored in the global_scholar skill.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